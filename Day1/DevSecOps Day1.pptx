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</p:sldIdLst>
  <p:sldSz cy="6858000" cx="9144000"/>
  <p:notesSz cx="6858000" cy="9144000"/>
  <p:embeddedFontLst>
    <p:embeddedFont>
      <p:font typeface="Average"/>
      <p:regular r:id="rId113"/>
    </p:embeddedFont>
    <p:embeddedFont>
      <p:font typeface="Oswald"/>
      <p:regular r:id="rId114"/>
      <p:bold r:id="rId1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16" roundtripDataSignature="AMtx7mgGwXXPFv2upBEWZXGrIYxfdzac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07" Type="http://schemas.openxmlformats.org/officeDocument/2006/relationships/slide" Target="slides/slide102.xml"/><Relationship Id="rId106" Type="http://schemas.openxmlformats.org/officeDocument/2006/relationships/slide" Target="slides/slide101.xml"/><Relationship Id="rId105" Type="http://schemas.openxmlformats.org/officeDocument/2006/relationships/slide" Target="slides/slide100.xml"/><Relationship Id="rId104" Type="http://schemas.openxmlformats.org/officeDocument/2006/relationships/slide" Target="slides/slide99.xml"/><Relationship Id="rId109" Type="http://schemas.openxmlformats.org/officeDocument/2006/relationships/slide" Target="slides/slide104.xml"/><Relationship Id="rId108" Type="http://schemas.openxmlformats.org/officeDocument/2006/relationships/slide" Target="slides/slide103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103" Type="http://schemas.openxmlformats.org/officeDocument/2006/relationships/slide" Target="slides/slide98.xml"/><Relationship Id="rId102" Type="http://schemas.openxmlformats.org/officeDocument/2006/relationships/slide" Target="slides/slide97.xml"/><Relationship Id="rId101" Type="http://schemas.openxmlformats.org/officeDocument/2006/relationships/slide" Target="slides/slide96.xml"/><Relationship Id="rId100" Type="http://schemas.openxmlformats.org/officeDocument/2006/relationships/slide" Target="slides/slide95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11" Type="http://schemas.openxmlformats.org/officeDocument/2006/relationships/slide" Target="slides/slide6.xml"/><Relationship Id="rId99" Type="http://schemas.openxmlformats.org/officeDocument/2006/relationships/slide" Target="slides/slide94.xml"/><Relationship Id="rId10" Type="http://schemas.openxmlformats.org/officeDocument/2006/relationships/slide" Target="slides/slide5.xml"/><Relationship Id="rId98" Type="http://schemas.openxmlformats.org/officeDocument/2006/relationships/slide" Target="slides/slide93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16" Type="http://customschemas.google.com/relationships/presentationmetadata" Target="metadata"/><Relationship Id="rId115" Type="http://schemas.openxmlformats.org/officeDocument/2006/relationships/font" Target="fonts/Oswald-bold.fntdata"/><Relationship Id="rId15" Type="http://schemas.openxmlformats.org/officeDocument/2006/relationships/slide" Target="slides/slide10.xml"/><Relationship Id="rId110" Type="http://schemas.openxmlformats.org/officeDocument/2006/relationships/slide" Target="slides/slide105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14" Type="http://schemas.openxmlformats.org/officeDocument/2006/relationships/font" Target="fonts/Oswald-regular.fntdata"/><Relationship Id="rId18" Type="http://schemas.openxmlformats.org/officeDocument/2006/relationships/slide" Target="slides/slide13.xml"/><Relationship Id="rId113" Type="http://schemas.openxmlformats.org/officeDocument/2006/relationships/font" Target="fonts/Average-regular.fntdata"/><Relationship Id="rId112" Type="http://schemas.openxmlformats.org/officeDocument/2006/relationships/slide" Target="slides/slide107.xml"/><Relationship Id="rId111" Type="http://schemas.openxmlformats.org/officeDocument/2006/relationships/slide" Target="slides/slide106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69" Type="http://schemas.openxmlformats.org/officeDocument/2006/relationships/slide" Target="slides/slide6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9" Type="http://schemas.openxmlformats.org/officeDocument/2006/relationships/slide" Target="slides/slide54.xml"/><Relationship Id="rId58" Type="http://schemas.openxmlformats.org/officeDocument/2006/relationships/slide" Target="slides/slide5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b19d56bd8d_0_1233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b19d56bd8d_0_1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b19d56bd8d_0_1238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b19d56bd8d_0_1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b19d56bd8d_0_1243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b19d56bd8d_0_1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b19d56bd8d_0_1248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b19d56bd8d_0_1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b19d56bd8d_0_1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b19d56bd8d_0_130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19d56bd8d_0_1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b19d56bd8d_0_13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b19d56bd8d_0_1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b19d56bd8d_0_13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b19d56bd8d_0_1342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b19d56bd8d_0_1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b19d56bd8d_0_1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b19d56bd8d_0_13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b19d56bd8d_0_1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b19d56bd8d_0_13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b19d56bd8d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b19d56bd8d_0_2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b19d56bd8d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3b19d56bd8d_0_2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b19d56bd8d_0_1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3b19d56bd8d_0_13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b19d56bd8d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g3b19d56bd8d_0_2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b19d56bd8d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g3b19d56bd8d_0_2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b19d56bd8d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3b19d56bd8d_0_2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b19d56bd8d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g3b19d56bd8d_0_2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b19d56bd8d_2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g3b19d56bd8d_2_2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b19d56bd8d_2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g3b19d56bd8d_2_2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b19d56bd8d_2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g3b19d56bd8d_2_2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b19d56bd8d_2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g3b19d56bd8d_2_2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b19d56bd8d_2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g3b19d56bd8d_2_2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b19d56bd8d_2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g3b19d56bd8d_2_2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b19d56bd8d_0_13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b19d56bd8d_0_1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b19d56bd8d_2_2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b19d56bd8d_2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b19d56bd8d_2_2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b19d56bd8d_2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b19d56bd8d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g3b19d56bd8d_0_2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b19d56bd8d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g3b19d56bd8d_0_3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b19d56bd8d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g3b19d56bd8d_0_3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b19d56bd8d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g3b19d56bd8d_0_3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b19d56bd8d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g3b19d56bd8d_0_3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b19d56bd8d_0_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g3b19d56bd8d_0_3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b19d56bd8d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g3b19d56bd8d_0_3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b19d56bd8d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g3b19d56bd8d_0_3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b19d56bd8d_0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g3b19d56bd8d_0_3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b19d56bd8d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g3b19d56bd8d_0_3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b1dc41a628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3b1dc41a62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b19d56bd8d_0_13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b19d56bd8d_0_1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b19d56bd8d_0_6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g3b19d56bd8d_0_6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b19d56bd8d_0_6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g3b19d56bd8d_0_6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b19d56bd8d_0_1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g3b19d56bd8d_0_14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b19d56bd8d_0_13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3b19d56bd8d_0_1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b19d56bd8d_0_13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b19d56bd8d_0_13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b19d56bd8d_0_6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g3b19d56bd8d_0_6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b19d56bd8d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g3b19d56bd8d_2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b19d56bd8d_0_7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g3b19d56bd8d_0_7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b19d56bd8d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g3b19d56bd8d_2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b19d56bd8d_0_7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g3b19d56bd8d_0_7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b19d56bd8d_0_7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g3b19d56bd8d_0_7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b19d56bd8d_2_1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3b19d56bd8d_2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b19d56bd8d_2_1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3b19d56bd8d_2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b19d56bd8d_0_7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g3b19d56bd8d_0_7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b19d56bd8d_0_7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g3b19d56bd8d_0_7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b19d56bd8d_0_7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g3b19d56bd8d_0_7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b19d56bd8d_0_7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g3b19d56bd8d_0_7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b19d56bd8d_0_7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g3b19d56bd8d_0_7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b19d56bd8d_0_7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g3b19d56bd8d_0_7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b19d56bd8d_0_8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g3b19d56bd8d_0_8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b19d56bd8d_0_8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g3b19d56bd8d_0_8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b19d56bd8d_0_8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g3b19d56bd8d_0_8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b19d56bd8d_0_8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g3b19d56bd8d_0_8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b19d56bd8d_0_8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g3b19d56bd8d_0_8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b19d56bd8d_0_8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g3b19d56bd8d_0_8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b19d56bd8d_0_8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g3b19d56bd8d_0_8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b19d56bd8d_2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g3b19d56bd8d_2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b19d56bd8d_2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g3b19d56bd8d_2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b19d56bd8d_2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g3b19d56bd8d_2_1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b19d56bd8d_2_1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3b19d56bd8d_2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3b19d56bd8d_0_14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3b19d56bd8d_0_1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3b19d56bd8d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g3b19d56bd8d_0_1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3b19d56bd8d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g3b19d56bd8d_0_1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3b19d56bd8d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g3b19d56bd8d_0_1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3b19d56bd8d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g3b19d56bd8d_0_1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3b19d56bd8d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g3b19d56bd8d_0_1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b19d56bd8d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g3b19d56bd8d_0_1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3b19d56bd8d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g3b19d56bd8d_0_1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3b19d56bd8d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g3b19d56bd8d_0_1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3b19d56bd8d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g3b19d56bd8d_0_1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3b19d56bd8d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g3b19d56bd8d_0_1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3b19d56bd8d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g3b19d56bd8d_0_1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g3b19d56bd8d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g3b19d56bd8d_0_1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b19d56bd8d_2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g3b19d56bd8d_2_1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3b19d56bd8d_2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g3b19d56bd8d_2_1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3b19d56bd8d_2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g3b19d56bd8d_2_1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3b19d56bd8d_2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g3b19d56bd8d_2_1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3b19d56bd8d_2_4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6" name="Google Shape;696;g3b19d56bd8d_2_4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3b19d56bd8d_2_2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3b19d56bd8d_2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g3b19d56bd8d_2_352"/>
          <p:cNvGrpSpPr/>
          <p:nvPr/>
        </p:nvGrpSpPr>
        <p:grpSpPr>
          <a:xfrm>
            <a:off x="4350279" y="3807170"/>
            <a:ext cx="443589" cy="140843"/>
            <a:chOff x="4137525" y="2915950"/>
            <a:chExt cx="869100" cy="207000"/>
          </a:xfrm>
        </p:grpSpPr>
        <p:sp>
          <p:nvSpPr>
            <p:cNvPr id="11" name="Google Shape;11;g3b19d56bd8d_2_35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g3b19d56bd8d_2_35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g3b19d56bd8d_2_35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g3b19d56bd8d_2_352"/>
          <p:cNvSpPr txBox="1"/>
          <p:nvPr>
            <p:ph type="ctrTitle"/>
          </p:nvPr>
        </p:nvSpPr>
        <p:spPr>
          <a:xfrm>
            <a:off x="671258" y="1321067"/>
            <a:ext cx="7801500" cy="230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g3b19d56bd8d_2_352"/>
          <p:cNvSpPr txBox="1"/>
          <p:nvPr>
            <p:ph idx="1" type="subTitle"/>
          </p:nvPr>
        </p:nvSpPr>
        <p:spPr>
          <a:xfrm>
            <a:off x="671250" y="4233168"/>
            <a:ext cx="78015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g3b19d56bd8d_2_352"/>
          <p:cNvSpPr txBox="1"/>
          <p:nvPr>
            <p:ph idx="12" type="sldNum"/>
          </p:nvPr>
        </p:nvSpPr>
        <p:spPr>
          <a:xfrm>
            <a:off x="8490250" y="6241346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b19d56bd8d_2_360"/>
          <p:cNvSpPr txBox="1"/>
          <p:nvPr>
            <p:ph type="title"/>
          </p:nvPr>
        </p:nvSpPr>
        <p:spPr>
          <a:xfrm>
            <a:off x="671250" y="2855000"/>
            <a:ext cx="7852200" cy="11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g3b19d56bd8d_2_360"/>
          <p:cNvSpPr txBox="1"/>
          <p:nvPr>
            <p:ph idx="12" type="sldNum"/>
          </p:nvPr>
        </p:nvSpPr>
        <p:spPr>
          <a:xfrm>
            <a:off x="8490250" y="6241346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b19d56bd8d_2_36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g3b19d56bd8d_2_36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g3b19d56bd8d_2_363"/>
          <p:cNvSpPr txBox="1"/>
          <p:nvPr>
            <p:ph idx="12" type="sldNum"/>
          </p:nvPr>
        </p:nvSpPr>
        <p:spPr>
          <a:xfrm>
            <a:off x="8490250" y="6241346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b19d56bd8d_2_36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g3b19d56bd8d_2_367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g3b19d56bd8d_2_367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g3b19d56bd8d_2_367"/>
          <p:cNvSpPr txBox="1"/>
          <p:nvPr>
            <p:ph idx="12" type="sldNum"/>
          </p:nvPr>
        </p:nvSpPr>
        <p:spPr>
          <a:xfrm>
            <a:off x="8490250" y="6241346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b19d56bd8d_2_37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g3b19d56bd8d_2_372"/>
          <p:cNvSpPr txBox="1"/>
          <p:nvPr>
            <p:ph idx="12" type="sldNum"/>
          </p:nvPr>
        </p:nvSpPr>
        <p:spPr>
          <a:xfrm>
            <a:off x="8490250" y="6241346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b19d56bd8d_2_375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g3b19d56bd8d_2_375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g3b19d56bd8d_2_375"/>
          <p:cNvSpPr txBox="1"/>
          <p:nvPr>
            <p:ph idx="12" type="sldNum"/>
          </p:nvPr>
        </p:nvSpPr>
        <p:spPr>
          <a:xfrm>
            <a:off x="8490250" y="6241346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b19d56bd8d_2_379"/>
          <p:cNvSpPr txBox="1"/>
          <p:nvPr>
            <p:ph type="title"/>
          </p:nvPr>
        </p:nvSpPr>
        <p:spPr>
          <a:xfrm>
            <a:off x="490250" y="701800"/>
            <a:ext cx="62271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g3b19d56bd8d_2_379"/>
          <p:cNvSpPr txBox="1"/>
          <p:nvPr>
            <p:ph idx="12" type="sldNum"/>
          </p:nvPr>
        </p:nvSpPr>
        <p:spPr>
          <a:xfrm>
            <a:off x="8490250" y="6241346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b19d56bd8d_2_382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g3b19d56bd8d_2_382"/>
          <p:cNvCxnSpPr/>
          <p:nvPr/>
        </p:nvCxnSpPr>
        <p:spPr>
          <a:xfrm>
            <a:off x="5029675" y="59940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g3b19d56bd8d_2_382"/>
          <p:cNvSpPr txBox="1"/>
          <p:nvPr>
            <p:ph type="title"/>
          </p:nvPr>
        </p:nvSpPr>
        <p:spPr>
          <a:xfrm>
            <a:off x="265500" y="1441867"/>
            <a:ext cx="4045200" cy="228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g3b19d56bd8d_2_382"/>
          <p:cNvSpPr txBox="1"/>
          <p:nvPr>
            <p:ph idx="1" type="subTitle"/>
          </p:nvPr>
        </p:nvSpPr>
        <p:spPr>
          <a:xfrm>
            <a:off x="265500" y="3793601"/>
            <a:ext cx="4045200" cy="17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g3b19d56bd8d_2_382"/>
          <p:cNvSpPr txBox="1"/>
          <p:nvPr>
            <p:ph idx="2" type="body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g3b19d56bd8d_2_382"/>
          <p:cNvSpPr txBox="1"/>
          <p:nvPr>
            <p:ph idx="12" type="sldNum"/>
          </p:nvPr>
        </p:nvSpPr>
        <p:spPr>
          <a:xfrm>
            <a:off x="8490250" y="6241346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b19d56bd8d_2_389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g3b19d56bd8d_2_389"/>
          <p:cNvSpPr txBox="1"/>
          <p:nvPr>
            <p:ph idx="12" type="sldNum"/>
          </p:nvPr>
        </p:nvSpPr>
        <p:spPr>
          <a:xfrm>
            <a:off x="8490250" y="6241346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b19d56bd8d_2_392"/>
          <p:cNvSpPr txBox="1"/>
          <p:nvPr>
            <p:ph hasCustomPrompt="1" type="title"/>
          </p:nvPr>
        </p:nvSpPr>
        <p:spPr>
          <a:xfrm>
            <a:off x="311700" y="1673700"/>
            <a:ext cx="8520600" cy="252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g3b19d56bd8d_2_392"/>
          <p:cNvSpPr txBox="1"/>
          <p:nvPr>
            <p:ph idx="1" type="body"/>
          </p:nvPr>
        </p:nvSpPr>
        <p:spPr>
          <a:xfrm>
            <a:off x="311700" y="43045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g3b19d56bd8d_2_392"/>
          <p:cNvSpPr txBox="1"/>
          <p:nvPr>
            <p:ph idx="12" type="sldNum"/>
          </p:nvPr>
        </p:nvSpPr>
        <p:spPr>
          <a:xfrm>
            <a:off x="8490250" y="6241346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b19d56bd8d_2_396"/>
          <p:cNvSpPr txBox="1"/>
          <p:nvPr>
            <p:ph idx="12" type="sldNum"/>
          </p:nvPr>
        </p:nvSpPr>
        <p:spPr>
          <a:xfrm>
            <a:off x="8490250" y="6241346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b19d56bd8d_2_39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7" name="Google Shape;57;g3b19d56bd8d_2_398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8" name="Google Shape;58;g3b19d56bd8d_2_39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g3b19d56bd8d_2_39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g3b19d56bd8d_2_39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b19d56bd8d_2_34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g3b19d56bd8d_2_34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g3b19d56bd8d_2_348"/>
          <p:cNvSpPr txBox="1"/>
          <p:nvPr>
            <p:ph idx="12" type="sldNum"/>
          </p:nvPr>
        </p:nvSpPr>
        <p:spPr>
          <a:xfrm>
            <a:off x="8490250" y="6241346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ocs.google.com/document/d/1Cydl3Eelcl1fEn4Epo7Ww7MBHmeIU3oC/edit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1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7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6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8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9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12.pn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6.xml"/><Relationship Id="rId3" Type="http://schemas.openxmlformats.org/officeDocument/2006/relationships/hyperlink" Target="https://github.com/arjunachari12/devsecops-training/blob/main/DevSecOps_PreRead_Day2-4.md" TargetMode="External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19d56bd8d_0_1233"/>
          <p:cNvSpPr txBox="1"/>
          <p:nvPr>
            <p:ph type="ctrTitle"/>
          </p:nvPr>
        </p:nvSpPr>
        <p:spPr>
          <a:xfrm>
            <a:off x="671258" y="1761422"/>
            <a:ext cx="7801500" cy="307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DevSecOps</a:t>
            </a:r>
            <a:endParaRPr/>
          </a:p>
        </p:txBody>
      </p:sp>
      <p:sp>
        <p:nvSpPr>
          <p:cNvPr id="66" name="Google Shape;66;g3b19d56bd8d_0_1233"/>
          <p:cNvSpPr txBox="1"/>
          <p:nvPr>
            <p:ph idx="1" type="subTitle"/>
          </p:nvPr>
        </p:nvSpPr>
        <p:spPr>
          <a:xfrm>
            <a:off x="671250" y="5644224"/>
            <a:ext cx="7801500" cy="14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Training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19d56bd8d_0_1238"/>
          <p:cNvSpPr txBox="1"/>
          <p:nvPr>
            <p:ph type="title"/>
          </p:nvPr>
        </p:nvSpPr>
        <p:spPr>
          <a:xfrm>
            <a:off x="311700" y="791156"/>
            <a:ext cx="8520600" cy="101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72" name="Google Shape;72;g3b19d56bd8d_0_1238"/>
          <p:cNvSpPr txBox="1"/>
          <p:nvPr>
            <p:ph idx="1" type="body"/>
          </p:nvPr>
        </p:nvSpPr>
        <p:spPr>
          <a:xfrm>
            <a:off x="311700" y="2048844"/>
            <a:ext cx="8520600" cy="60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https://docs.google.com/document/d/1Cydl3Eelcl1fEn4Epo7Ww7MBHmeIU3oC/edit</a:t>
            </a: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19d56bd8d_0_1243"/>
          <p:cNvSpPr txBox="1"/>
          <p:nvPr>
            <p:ph type="title"/>
          </p:nvPr>
        </p:nvSpPr>
        <p:spPr>
          <a:xfrm>
            <a:off x="311700" y="791156"/>
            <a:ext cx="8520600" cy="101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Training Format</a:t>
            </a:r>
            <a:endParaRPr/>
          </a:p>
        </p:txBody>
      </p:sp>
      <p:sp>
        <p:nvSpPr>
          <p:cNvPr id="78" name="Google Shape;78;g3b19d56bd8d_0_1243"/>
          <p:cNvSpPr txBox="1"/>
          <p:nvPr>
            <p:ph idx="1" type="body"/>
          </p:nvPr>
        </p:nvSpPr>
        <p:spPr>
          <a:xfrm>
            <a:off x="311700" y="2048844"/>
            <a:ext cx="8520600" cy="60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Concepts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Hands-on exercises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Assignments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Interactive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19d56bd8d_0_1248"/>
          <p:cNvSpPr txBox="1"/>
          <p:nvPr>
            <p:ph type="title"/>
          </p:nvPr>
        </p:nvSpPr>
        <p:spPr>
          <a:xfrm>
            <a:off x="311700" y="791156"/>
            <a:ext cx="8520600" cy="101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Timing</a:t>
            </a:r>
            <a:endParaRPr/>
          </a:p>
        </p:txBody>
      </p:sp>
      <p:sp>
        <p:nvSpPr>
          <p:cNvPr id="84" name="Google Shape;84;g3b19d56bd8d_0_1248"/>
          <p:cNvSpPr txBox="1"/>
          <p:nvPr>
            <p:ph idx="1" type="body"/>
          </p:nvPr>
        </p:nvSpPr>
        <p:spPr>
          <a:xfrm>
            <a:off x="311700" y="2048844"/>
            <a:ext cx="8520600" cy="60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Start time at 10 am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Break 11.30 am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Lunch 1pm to 2pm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Break 3.40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End at 6 pm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DEVSECOPS MATTERS</a:t>
            </a:r>
            <a:endParaRPr/>
          </a:p>
        </p:txBody>
      </p:sp>
      <p:sp>
        <p:nvSpPr>
          <p:cNvPr id="90" name="Google Shape;90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93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/>
              <a:t>Modern applications run critical business operations</a:t>
            </a:r>
            <a:endParaRPr sz="4000"/>
          </a:p>
          <a:p>
            <a:pPr indent="-3937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/>
              <a:t>Banking applications handle highly sensitive data</a:t>
            </a:r>
            <a:endParaRPr sz="4000"/>
          </a:p>
          <a:p>
            <a:pPr indent="-3937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/>
              <a:t>Security failures cause financial and reputational damage</a:t>
            </a:r>
            <a:endParaRPr sz="4000"/>
          </a:p>
          <a:p>
            <a:pPr indent="-3937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/>
              <a:t>Regulatory requirements are increasing</a:t>
            </a:r>
            <a:endParaRPr sz="4000"/>
          </a:p>
          <a:p>
            <a:pPr indent="-3937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/>
              <a:t>Late security fixes are expensive</a:t>
            </a:r>
            <a:endParaRPr sz="4000"/>
          </a:p>
          <a:p>
            <a:pPr indent="-3937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/>
              <a:t>Speed without security increases risk</a:t>
            </a:r>
            <a:endParaRPr sz="4000"/>
          </a:p>
          <a:p>
            <a:pPr indent="-393700" lvl="0" marL="342900" rtl="0" algn="l">
              <a:spcBef>
                <a:spcPts val="400"/>
              </a:spcBef>
              <a:spcAft>
                <a:spcPts val="1200"/>
              </a:spcAft>
              <a:buClr>
                <a:schemeClr val="dk1"/>
              </a:buClr>
              <a:buSzPts val="2800"/>
              <a:buChar char="●"/>
            </a:pPr>
            <a:r>
              <a:rPr lang="en-US" sz="2800"/>
              <a:t>DevSecOps balances agility and security</a:t>
            </a:r>
            <a:endParaRPr sz="4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TRADITIONAL SDLC</a:t>
            </a:r>
            <a:endParaRPr/>
          </a:p>
        </p:txBody>
      </p:sp>
      <p:sp>
        <p:nvSpPr>
          <p:cNvPr id="96" name="Google Shape;96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42900" rtl="0" algn="l">
              <a:spcBef>
                <a:spcPts val="400"/>
              </a:spcBef>
              <a:spcAft>
                <a:spcPts val="1200"/>
              </a:spcAft>
              <a:buNone/>
            </a:pPr>
            <a:r>
              <a:t/>
            </a:r>
            <a:endParaRPr sz="4700"/>
          </a:p>
        </p:txBody>
      </p:sp>
      <p:pic>
        <p:nvPicPr>
          <p:cNvPr id="97" name="Google Shape;97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29325"/>
            <a:ext cx="9143999" cy="5458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19d56bd8d_0_130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TRADITIONAL SDLC</a:t>
            </a:r>
            <a:endParaRPr/>
          </a:p>
        </p:txBody>
      </p:sp>
      <p:sp>
        <p:nvSpPr>
          <p:cNvPr id="103" name="Google Shape;103;g3b19d56bd8d_0_1307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815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Char char="●"/>
            </a:pPr>
            <a:r>
              <a:rPr lang="en-US" sz="3500"/>
              <a:t>Security happens at the end</a:t>
            </a:r>
            <a:endParaRPr sz="4700"/>
          </a:p>
          <a:p>
            <a:pPr indent="-43815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3500"/>
              <a:buChar char="●"/>
            </a:pPr>
            <a:r>
              <a:rPr lang="en-US" sz="3500"/>
              <a:t>Testing is mostly manual</a:t>
            </a:r>
            <a:endParaRPr sz="4700"/>
          </a:p>
          <a:p>
            <a:pPr indent="-43815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3500"/>
              <a:buChar char="●"/>
            </a:pPr>
            <a:r>
              <a:rPr lang="en-US" sz="3500"/>
              <a:t>Issues found late in the lifecycle</a:t>
            </a:r>
            <a:endParaRPr sz="4700"/>
          </a:p>
          <a:p>
            <a:pPr indent="-43815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3500"/>
              <a:buChar char="●"/>
            </a:pPr>
            <a:r>
              <a:rPr lang="en-US" sz="3500"/>
              <a:t>High cost of remediation</a:t>
            </a:r>
            <a:endParaRPr sz="4700"/>
          </a:p>
          <a:p>
            <a:pPr indent="-43815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3500"/>
              <a:buChar char="●"/>
            </a:pPr>
            <a:r>
              <a:rPr lang="en-US" sz="3500"/>
              <a:t>Limited collaboration between teams</a:t>
            </a:r>
            <a:endParaRPr sz="4700"/>
          </a:p>
          <a:p>
            <a:pPr indent="-438150" lvl="0" marL="342900" rtl="0" algn="l">
              <a:spcBef>
                <a:spcPts val="400"/>
              </a:spcBef>
              <a:spcAft>
                <a:spcPts val="1200"/>
              </a:spcAft>
              <a:buClr>
                <a:schemeClr val="dk1"/>
              </a:buClr>
              <a:buSzPts val="3500"/>
              <a:buChar char="●"/>
            </a:pPr>
            <a:r>
              <a:rPr lang="en-US" sz="3500"/>
              <a:t>Slow feedback loops</a:t>
            </a:r>
            <a:endParaRPr sz="47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DEVOPS</a:t>
            </a:r>
            <a:endParaRPr/>
          </a:p>
        </p:txBody>
      </p:sp>
      <p:sp>
        <p:nvSpPr>
          <p:cNvPr id="109" name="Google Shape;10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42900" rtl="0" algn="l">
              <a:spcBef>
                <a:spcPts val="400"/>
              </a:spcBef>
              <a:spcAft>
                <a:spcPts val="1200"/>
              </a:spcAft>
              <a:buNone/>
            </a:pPr>
            <a:r>
              <a:t/>
            </a:r>
            <a:endParaRPr sz="4800"/>
          </a:p>
        </p:txBody>
      </p:sp>
      <p:pic>
        <p:nvPicPr>
          <p:cNvPr id="110" name="Google Shape;11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00189"/>
            <a:ext cx="9143999" cy="51778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b19d56bd8d_0_13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DEVOPS</a:t>
            </a:r>
            <a:endParaRPr/>
          </a:p>
        </p:txBody>
      </p:sp>
      <p:sp>
        <p:nvSpPr>
          <p:cNvPr id="116" name="Google Shape;116;g3b19d56bd8d_0_131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4445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3600"/>
              <a:t>Focus on speed and automation</a:t>
            </a:r>
            <a:endParaRPr sz="4800"/>
          </a:p>
          <a:p>
            <a:pPr indent="-4445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3600"/>
              <a:t>Continuous integration and delivery</a:t>
            </a:r>
            <a:endParaRPr sz="4800"/>
          </a:p>
          <a:p>
            <a:pPr indent="-4445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3600"/>
              <a:t>Improved collaboration between Dev and Ops</a:t>
            </a:r>
            <a:endParaRPr sz="4800"/>
          </a:p>
          <a:p>
            <a:pPr indent="-4445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3600"/>
              <a:t>Infrastructure as code</a:t>
            </a:r>
            <a:endParaRPr sz="4800"/>
          </a:p>
          <a:p>
            <a:pPr indent="-4445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3600"/>
              <a:t>Faster releases</a:t>
            </a:r>
            <a:endParaRPr sz="4800"/>
          </a:p>
          <a:p>
            <a:pPr indent="-444500" lvl="0" marL="342900" rtl="0" algn="l">
              <a:spcBef>
                <a:spcPts val="400"/>
              </a:spcBef>
              <a:spcAft>
                <a:spcPts val="1200"/>
              </a:spcAft>
              <a:buClr>
                <a:schemeClr val="dk1"/>
              </a:buClr>
              <a:buSzPts val="3600"/>
              <a:buChar char="●"/>
            </a:pPr>
            <a:r>
              <a:rPr lang="en-US" sz="3600"/>
              <a:t>Reduced operational friction</a:t>
            </a:r>
            <a:endParaRPr sz="4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LIMITATIONS OF DEVOPS</a:t>
            </a:r>
            <a:endParaRPr/>
          </a:p>
        </p:txBody>
      </p:sp>
      <p:sp>
        <p:nvSpPr>
          <p:cNvPr id="122" name="Google Shape;122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815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Char char="●"/>
            </a:pPr>
            <a:r>
              <a:rPr lang="en-US" sz="3500"/>
              <a:t>Security treated as a separate phase</a:t>
            </a:r>
            <a:endParaRPr sz="4700"/>
          </a:p>
          <a:p>
            <a:pPr indent="-43815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3500"/>
              <a:buChar char="●"/>
            </a:pPr>
            <a:r>
              <a:rPr lang="en-US" sz="3500"/>
              <a:t>Security teams become bottlenecks</a:t>
            </a:r>
            <a:endParaRPr sz="4700"/>
          </a:p>
          <a:p>
            <a:pPr indent="-43815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3500"/>
              <a:buChar char="●"/>
            </a:pPr>
            <a:r>
              <a:rPr lang="en-US" sz="3500"/>
              <a:t>Reactive vulnerability handling</a:t>
            </a:r>
            <a:endParaRPr sz="4700"/>
          </a:p>
          <a:p>
            <a:pPr indent="-43815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3500"/>
              <a:buChar char="●"/>
            </a:pPr>
            <a:r>
              <a:rPr lang="en-US" sz="3500"/>
              <a:t>Compliance handled late</a:t>
            </a:r>
            <a:endParaRPr sz="4700"/>
          </a:p>
          <a:p>
            <a:pPr indent="-438150" lvl="0" marL="342900" rtl="0" algn="l">
              <a:spcBef>
                <a:spcPts val="400"/>
              </a:spcBef>
              <a:spcAft>
                <a:spcPts val="1200"/>
              </a:spcAft>
              <a:buClr>
                <a:schemeClr val="dk1"/>
              </a:buClr>
              <a:buSzPts val="3500"/>
              <a:buChar char="●"/>
            </a:pPr>
            <a:r>
              <a:rPr lang="en-US" sz="3500"/>
              <a:t>Increased risk exposure</a:t>
            </a:r>
            <a:endParaRPr sz="47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DEVSECOPS</a:t>
            </a:r>
            <a:endParaRPr/>
          </a:p>
        </p:txBody>
      </p:sp>
      <p:pic>
        <p:nvPicPr>
          <p:cNvPr id="128" name="Google Shape;128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93669"/>
            <a:ext cx="9143999" cy="49893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b19d56bd8d_0_13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DEVSECOPS</a:t>
            </a:r>
            <a:endParaRPr/>
          </a:p>
        </p:txBody>
      </p:sp>
      <p:sp>
        <p:nvSpPr>
          <p:cNvPr id="134" name="Google Shape;134;g3b19d56bd8d_0_1319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Security integrated into DevOps</a:t>
            </a:r>
            <a:endParaRPr sz="3500"/>
          </a:p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Security as shared responsibility</a:t>
            </a:r>
            <a:endParaRPr sz="3500"/>
          </a:p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Automation of security controls</a:t>
            </a:r>
            <a:endParaRPr sz="3500"/>
          </a:p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Security built into pipelines</a:t>
            </a:r>
            <a:endParaRPr sz="3500"/>
          </a:p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Continuous security feedback</a:t>
            </a:r>
            <a:endParaRPr sz="3500"/>
          </a:p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Secure by design mindset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DEVOPS VS DEVSECOPS</a:t>
            </a:r>
            <a:endParaRPr/>
          </a:p>
        </p:txBody>
      </p:sp>
      <p:sp>
        <p:nvSpPr>
          <p:cNvPr id="140" name="Google Shape;140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DevOps focuses on speed and reliability</a:t>
            </a:r>
            <a:endParaRPr sz="3500"/>
          </a:p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DevSecOps focuses on speed, reliability, and security</a:t>
            </a:r>
            <a:endParaRPr sz="3500"/>
          </a:p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Security shifts from gatekeeper to enabler</a:t>
            </a:r>
            <a:endParaRPr sz="3500"/>
          </a:p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Automation replaces manual security checks</a:t>
            </a:r>
            <a:endParaRPr sz="3500"/>
          </a:p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Risk is managed continuously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CORE DEVSECOPS PRINCIPLES</a:t>
            </a:r>
            <a:endParaRPr/>
          </a:p>
        </p:txBody>
      </p:sp>
      <p:sp>
        <p:nvSpPr>
          <p:cNvPr id="146" name="Google Shape;146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Shared responsibility for security</a:t>
            </a:r>
            <a:endParaRPr sz="3500"/>
          </a:p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Shift security left</a:t>
            </a:r>
            <a:endParaRPr sz="3500"/>
          </a:p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Automate security testing</a:t>
            </a:r>
            <a:endParaRPr sz="3500"/>
          </a:p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Secure by design</a:t>
            </a:r>
            <a:endParaRPr sz="3500"/>
          </a:p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Least privilege access</a:t>
            </a:r>
            <a:endParaRPr sz="3500"/>
          </a:p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Continuous monitoring</a:t>
            </a:r>
            <a:endParaRPr sz="3500"/>
          </a:p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Continuous improvement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DEVSECOPS CULTURE</a:t>
            </a:r>
            <a:endParaRPr/>
          </a:p>
        </p:txBody>
      </p:sp>
      <p:sp>
        <p:nvSpPr>
          <p:cNvPr id="152" name="Google Shape;152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Collaboration over silos</a:t>
            </a:r>
            <a:endParaRPr sz="3500"/>
          </a:p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Security is everyone’s responsibility</a:t>
            </a:r>
            <a:endParaRPr sz="3500"/>
          </a:p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Blameless culture</a:t>
            </a:r>
            <a:endParaRPr sz="3500"/>
          </a:p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Fast feedback to developers</a:t>
            </a:r>
            <a:endParaRPr sz="3500"/>
          </a:p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Learning from incidents</a:t>
            </a:r>
            <a:endParaRPr sz="3500"/>
          </a:p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Security as a quality attribute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DEVSECOPS IN BANKING</a:t>
            </a:r>
            <a:endParaRPr/>
          </a:p>
        </p:txBody>
      </p:sp>
      <p:sp>
        <p:nvSpPr>
          <p:cNvPr id="158" name="Google Shape;158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High regulatory expectations</a:t>
            </a:r>
            <a:endParaRPr sz="3500"/>
          </a:p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Strict data protection requirements</a:t>
            </a:r>
            <a:endParaRPr sz="3500"/>
          </a:p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Audit and traceability needed</a:t>
            </a:r>
            <a:endParaRPr sz="3500"/>
          </a:p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Fraud prevention critical</a:t>
            </a:r>
            <a:endParaRPr sz="3500"/>
          </a:p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Customer trust is paramount</a:t>
            </a:r>
            <a:endParaRPr sz="3500"/>
          </a:p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Security incidents have high impact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CHANGES FOR ENGINEERS</a:t>
            </a:r>
            <a:endParaRPr/>
          </a:p>
        </p:txBody>
      </p:sp>
      <p:sp>
        <p:nvSpPr>
          <p:cNvPr id="164" name="Google Shape;164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Security requirements from day one</a:t>
            </a:r>
            <a:endParaRPr sz="3500"/>
          </a:p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Secure coding practices</a:t>
            </a:r>
            <a:endParaRPr sz="3500"/>
          </a:p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Security tools in daily workflow</a:t>
            </a:r>
            <a:endParaRPr sz="3500"/>
          </a:p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Understanding compliance impact</a:t>
            </a:r>
            <a:endParaRPr sz="3500"/>
          </a:p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Thinking like an attacker</a:t>
            </a:r>
            <a:endParaRPr sz="3500"/>
          </a:p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Ownership of security outcomes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b19d56bd8d_0_1342"/>
          <p:cNvSpPr txBox="1"/>
          <p:nvPr>
            <p:ph idx="1" type="body"/>
          </p:nvPr>
        </p:nvSpPr>
        <p:spPr>
          <a:xfrm>
            <a:off x="203350" y="1584199"/>
            <a:ext cx="8520600" cy="488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Char char="-"/>
            </a:pPr>
            <a:r>
              <a:rPr lang="en-US" sz="2800">
                <a:solidFill>
                  <a:schemeClr val="dk1"/>
                </a:solidFill>
              </a:rPr>
              <a:t>Ubuntu VM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-"/>
            </a:pPr>
            <a:r>
              <a:rPr lang="en-US" sz="2800">
                <a:solidFill>
                  <a:schemeClr val="dk1"/>
                </a:solidFill>
              </a:rPr>
              <a:t>Azure account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-"/>
            </a:pPr>
            <a:r>
              <a:rPr lang="en-US" sz="2800">
                <a:solidFill>
                  <a:schemeClr val="dk1"/>
                </a:solidFill>
              </a:rPr>
              <a:t>VM Access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-"/>
            </a:pPr>
            <a:r>
              <a:rPr lang="en-US" sz="2800">
                <a:solidFill>
                  <a:schemeClr val="dk1"/>
                </a:solidFill>
              </a:rPr>
              <a:t>VS Code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-"/>
            </a:pPr>
            <a:r>
              <a:rPr lang="en-US" sz="2800">
                <a:solidFill>
                  <a:schemeClr val="dk1"/>
                </a:solidFill>
              </a:rPr>
              <a:t>Docker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-"/>
            </a:pPr>
            <a:r>
              <a:rPr lang="en-US" sz="2800">
                <a:solidFill>
                  <a:schemeClr val="dk1"/>
                </a:solidFill>
              </a:rPr>
              <a:t>DevSecOps tools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70" name="Google Shape;170;g3b19d56bd8d_0_134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3800">
                <a:latin typeface="Average"/>
                <a:ea typeface="Average"/>
                <a:cs typeface="Average"/>
                <a:sym typeface="Average"/>
              </a:rPr>
              <a:t>Infra setup</a:t>
            </a:r>
            <a:endParaRPr sz="4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SECURE SDLC OVERVIEW</a:t>
            </a:r>
            <a:endParaRPr/>
          </a:p>
        </p:txBody>
      </p:sp>
      <p:sp>
        <p:nvSpPr>
          <p:cNvPr id="176" name="Google Shape;176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Security embedded in every phase</a:t>
            </a:r>
            <a:endParaRPr sz="3500"/>
          </a:p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Predictable and repeatable security</a:t>
            </a:r>
            <a:endParaRPr sz="3500"/>
          </a:p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Early risk identification</a:t>
            </a:r>
            <a:endParaRPr sz="3500"/>
          </a:p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Reduced remediation cost</a:t>
            </a:r>
            <a:endParaRPr sz="3500"/>
          </a:p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Improved compliance posture</a:t>
            </a:r>
            <a:endParaRPr sz="3500"/>
          </a:p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Supports DevSecOps automation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b19d56bd8d_0_13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SECURE SDLC OVERVIEW</a:t>
            </a:r>
            <a:endParaRPr/>
          </a:p>
        </p:txBody>
      </p:sp>
      <p:pic>
        <p:nvPicPr>
          <p:cNvPr id="182" name="Google Shape;182;g3b19d56bd8d_0_13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140850"/>
            <a:ext cx="9144000" cy="47171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SECURE SDLC PHASES</a:t>
            </a:r>
            <a:endParaRPr/>
          </a:p>
        </p:txBody>
      </p:sp>
      <p:sp>
        <p:nvSpPr>
          <p:cNvPr id="188" name="Google Shape;188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Requirements</a:t>
            </a:r>
            <a:endParaRPr sz="3500"/>
          </a:p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Design</a:t>
            </a:r>
            <a:endParaRPr sz="3500"/>
          </a:p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Development</a:t>
            </a:r>
            <a:endParaRPr sz="3500"/>
          </a:p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Build</a:t>
            </a:r>
            <a:endParaRPr sz="3500"/>
          </a:p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Test</a:t>
            </a:r>
            <a:endParaRPr sz="3500"/>
          </a:p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Deploy</a:t>
            </a:r>
            <a:endParaRPr sz="3500"/>
          </a:p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Operate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b19d56bd8d_0_13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SECURE SDLC PHASES</a:t>
            </a:r>
            <a:endParaRPr/>
          </a:p>
        </p:txBody>
      </p:sp>
      <p:pic>
        <p:nvPicPr>
          <p:cNvPr id="194" name="Google Shape;194;g3b19d56bd8d_0_13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133984"/>
            <a:ext cx="9144000" cy="4724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REQUIREMENTS PHASE SECURITY</a:t>
            </a:r>
            <a:endParaRPr/>
          </a:p>
        </p:txBody>
      </p:sp>
      <p:sp>
        <p:nvSpPr>
          <p:cNvPr id="200" name="Google Shape;200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Identify sensitive data</a:t>
            </a:r>
            <a:endParaRPr sz="3500"/>
          </a:p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Regulatory requirements</a:t>
            </a:r>
            <a:endParaRPr sz="3500"/>
          </a:p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Security and privacy requirements</a:t>
            </a:r>
            <a:endParaRPr sz="3500"/>
          </a:p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Threat assumptions</a:t>
            </a:r>
            <a:endParaRPr sz="3500"/>
          </a:p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Audit requirements</a:t>
            </a:r>
            <a:endParaRPr sz="3500"/>
          </a:p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Risk classification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DESIGN PHASE SECURITY</a:t>
            </a:r>
            <a:endParaRPr/>
          </a:p>
        </p:txBody>
      </p:sp>
      <p:sp>
        <p:nvSpPr>
          <p:cNvPr id="206" name="Google Shape;206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Threat modeling</a:t>
            </a:r>
            <a:endParaRPr sz="3500"/>
          </a:p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Secure architecture patterns</a:t>
            </a:r>
            <a:endParaRPr sz="3500"/>
          </a:p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Trust boundaries</a:t>
            </a:r>
            <a:endParaRPr sz="3500"/>
          </a:p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Authentication design</a:t>
            </a:r>
            <a:endParaRPr sz="3500"/>
          </a:p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Authorization design</a:t>
            </a:r>
            <a:endParaRPr sz="3500"/>
          </a:p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Data flow security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DEVELOPMENT PHASE SECURITY</a:t>
            </a:r>
            <a:endParaRPr/>
          </a:p>
        </p:txBody>
      </p:sp>
      <p:sp>
        <p:nvSpPr>
          <p:cNvPr id="212" name="Google Shape;212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Secure coding practices</a:t>
            </a:r>
            <a:endParaRPr sz="3500"/>
          </a:p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Input validation</a:t>
            </a:r>
            <a:endParaRPr sz="3500"/>
          </a:p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Error handling</a:t>
            </a:r>
            <a:endParaRPr sz="3500"/>
          </a:p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Avoid hardcoded secrets</a:t>
            </a:r>
            <a:endParaRPr sz="3500"/>
          </a:p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Use approved libraries</a:t>
            </a:r>
            <a:endParaRPr sz="3500"/>
          </a:p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Peer code reviews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 PHASE SECURITY</a:t>
            </a:r>
            <a:endParaRPr/>
          </a:p>
        </p:txBody>
      </p:sp>
      <p:sp>
        <p:nvSpPr>
          <p:cNvPr id="218" name="Google Shape;218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Static application security testing</a:t>
            </a:r>
            <a:endParaRPr sz="3500"/>
          </a:p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Dependency scanning</a:t>
            </a:r>
            <a:endParaRPr sz="3500"/>
          </a:p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Secret detection</a:t>
            </a:r>
            <a:endParaRPr sz="3500"/>
          </a:p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Secure build pipelines</a:t>
            </a:r>
            <a:endParaRPr sz="3500"/>
          </a:p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Artifact integrity</a:t>
            </a:r>
            <a:endParaRPr sz="3500"/>
          </a:p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Version control security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 PHASE SECURITY</a:t>
            </a:r>
            <a:endParaRPr/>
          </a:p>
        </p:txBody>
      </p:sp>
      <p:sp>
        <p:nvSpPr>
          <p:cNvPr id="224" name="Google Shape;224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Dynamic application security testing</a:t>
            </a:r>
            <a:endParaRPr sz="3500"/>
          </a:p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API security testing</a:t>
            </a:r>
            <a:endParaRPr sz="3500"/>
          </a:p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Business logic testing</a:t>
            </a:r>
            <a:endParaRPr sz="3500"/>
          </a:p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Negative testing</a:t>
            </a:r>
            <a:endParaRPr sz="3500"/>
          </a:p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Automated security tests</a:t>
            </a:r>
            <a:endParaRPr sz="3500"/>
          </a:p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Manual exploratory testing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DEPLOY &amp; OPERATE SECURITY</a:t>
            </a:r>
            <a:endParaRPr/>
          </a:p>
        </p:txBody>
      </p:sp>
      <p:sp>
        <p:nvSpPr>
          <p:cNvPr id="230" name="Google Shape;230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Secure configurations</a:t>
            </a:r>
            <a:endParaRPr sz="3500"/>
          </a:p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Secrets management</a:t>
            </a:r>
            <a:endParaRPr sz="3500"/>
          </a:p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Monitoring and alerting</a:t>
            </a:r>
            <a:endParaRPr sz="3500"/>
          </a:p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Logging and audit trails</a:t>
            </a:r>
            <a:endParaRPr sz="3500"/>
          </a:p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Incident response readiness</a:t>
            </a:r>
            <a:endParaRPr sz="3500"/>
          </a:p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Patch managemen</a:t>
            </a:r>
            <a:r>
              <a:rPr lang="en-US" sz="2000"/>
              <a:t>t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SHIFT LEFT AND SHIFT RIGHT</a:t>
            </a:r>
            <a:endParaRPr/>
          </a:p>
        </p:txBody>
      </p:sp>
      <p:sp>
        <p:nvSpPr>
          <p:cNvPr id="236" name="Google Shape;236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Security early in development</a:t>
            </a:r>
            <a:endParaRPr sz="3500"/>
          </a:p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Security feedback from production</a:t>
            </a:r>
            <a:endParaRPr sz="3500"/>
          </a:p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Continuous improvement</a:t>
            </a:r>
            <a:endParaRPr sz="3500"/>
          </a:p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Learning from incidents</a:t>
            </a:r>
            <a:endParaRPr sz="3500"/>
          </a:p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Security metrics</a:t>
            </a:r>
            <a:endParaRPr sz="3500"/>
          </a:p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Closing feedback loops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SECURE SDLC AND COMPLIANCE</a:t>
            </a:r>
            <a:endParaRPr/>
          </a:p>
        </p:txBody>
      </p:sp>
      <p:sp>
        <p:nvSpPr>
          <p:cNvPr id="242" name="Google Shape;242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Compliance starts at requirements</a:t>
            </a:r>
            <a:endParaRPr sz="3500"/>
          </a:p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Controls embedded in design</a:t>
            </a:r>
            <a:endParaRPr sz="3500"/>
          </a:p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Evidence generated automatically</a:t>
            </a:r>
            <a:endParaRPr sz="3500"/>
          </a:p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Audit readiness</a:t>
            </a:r>
            <a:endParaRPr sz="3500"/>
          </a:p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Reduced compliance friction</a:t>
            </a:r>
            <a:endParaRPr sz="3500"/>
          </a:p>
          <a:p>
            <a:pPr indent="-438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Continuous compliance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b19d56bd8d_0_26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Threat Modeling?</a:t>
            </a:r>
            <a:endParaRPr/>
          </a:p>
        </p:txBody>
      </p:sp>
      <p:sp>
        <p:nvSpPr>
          <p:cNvPr id="248" name="Google Shape;248;g3b19d56bd8d_0_26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Proactive security design activity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Identify threats before coding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Focuses on attacker mindset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Reduces costly rework later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part of Secure SDLC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b19d56bd8d_0_27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STRIDE?</a:t>
            </a:r>
            <a:endParaRPr/>
          </a:p>
        </p:txBody>
      </p:sp>
      <p:pic>
        <p:nvPicPr>
          <p:cNvPr id="254" name="Google Shape;254;g3b19d56bd8d_0_2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191" y="1299497"/>
            <a:ext cx="8007625" cy="555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b19d56bd8d_0_134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STRIDE?</a:t>
            </a:r>
            <a:endParaRPr/>
          </a:p>
        </p:txBody>
      </p:sp>
      <p:sp>
        <p:nvSpPr>
          <p:cNvPr id="260" name="Google Shape;260;g3b19d56bd8d_0_1347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Threat modeling framework by Microsoft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Categorises common threat types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Used during design phase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Easy to remember and apply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Maps well to application risks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b19d56bd8d_0_27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STRIDE Categories</a:t>
            </a:r>
            <a:endParaRPr/>
          </a:p>
        </p:txBody>
      </p:sp>
      <p:sp>
        <p:nvSpPr>
          <p:cNvPr id="266" name="Google Shape;266;g3b19d56bd8d_0_27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– Spoofing identity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 – Tampering with data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 – Repudiation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– Information disclosure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 – Denial of service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 – Elevation of privilege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b19d56bd8d_0_28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STRIDE – Spoofing &amp; Tampering</a:t>
            </a:r>
            <a:endParaRPr/>
          </a:p>
        </p:txBody>
      </p:sp>
      <p:sp>
        <p:nvSpPr>
          <p:cNvPr id="272" name="Google Shape;272;g3b19d56bd8d_0_28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Spoofing: Pretending to be another user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Examples: Credential theft, session hijacking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Tampering: Unauthorized data modification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Examples: API payload manipulation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Controls: Authentication, integrity checks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b19d56bd8d_0_28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STRIDE – Repudiation &amp; Information Disclosure</a:t>
            </a:r>
            <a:endParaRPr/>
          </a:p>
        </p:txBody>
      </p:sp>
      <p:sp>
        <p:nvSpPr>
          <p:cNvPr id="278" name="Google Shape;278;g3b19d56bd8d_0_28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Repudiation: Actions cannot be traced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No audit logs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Information Disclosure: Data leakage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Examples: Logs, error messages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Controls: Logging, encryption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b19d56bd8d_0_29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STRIDE – DoS &amp; Elevation of Privilege</a:t>
            </a:r>
            <a:endParaRPr/>
          </a:p>
        </p:txBody>
      </p:sp>
      <p:sp>
        <p:nvSpPr>
          <p:cNvPr id="284" name="Google Shape;284;g3b19d56bd8d_0_29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Denial of Service: Resource exhaustion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Elevation of Privilege: Gaining higher access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Examples: Role bypass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Controls: Rate limiting, RBAC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Design-time mitigation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b19d56bd8d_2_24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Threat Modeling Exercise – Banking Context</a:t>
            </a:r>
            <a:endParaRPr/>
          </a:p>
        </p:txBody>
      </p:sp>
      <p:sp>
        <p:nvSpPr>
          <p:cNvPr id="290" name="Google Shape;290;g3b19d56bd8d_2_24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/>
          </a:bodyPr>
          <a:lstStyle/>
          <a:p>
            <a:pPr indent="-31242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Objective:</a:t>
            </a:r>
            <a:endParaRPr/>
          </a:p>
          <a:p>
            <a:pPr indent="-31242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Understand how to identify, prioritise, and mitigate security threats in an online banking application.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242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it Matters:</a:t>
            </a:r>
            <a:endParaRPr/>
          </a:p>
          <a:p>
            <a:pPr indent="-31242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Handles money, identity, and trust</a:t>
            </a:r>
            <a:endParaRPr/>
          </a:p>
          <a:p>
            <a:pPr indent="-31242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Security failures cause financial &amp; reputational loss</a:t>
            </a:r>
            <a:endParaRPr/>
          </a:p>
          <a:p>
            <a:pPr indent="-31242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Threat modeling prevents design flaws early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b19d56bd8d_2_24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Case – Online Banking Application</a:t>
            </a:r>
            <a:endParaRPr/>
          </a:p>
        </p:txBody>
      </p:sp>
      <p:sp>
        <p:nvSpPr>
          <p:cNvPr id="296" name="Google Shape;296;g3b19d56bd8d_2_248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28194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Customers can:</a:t>
            </a:r>
            <a:endParaRPr/>
          </a:p>
          <a:p>
            <a:pPr indent="-28194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 in to their bank account</a:t>
            </a:r>
            <a:endParaRPr/>
          </a:p>
          <a:p>
            <a:pPr indent="-28194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View balances &amp; transactions</a:t>
            </a:r>
            <a:endParaRPr/>
          </a:p>
          <a:p>
            <a:pPr indent="-28194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Transfer money to beneficiaries</a:t>
            </a:r>
            <a:endParaRPr/>
          </a:p>
          <a:p>
            <a:pPr indent="-28194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Pay bills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194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Business Expectations:</a:t>
            </a:r>
            <a:endParaRPr/>
          </a:p>
          <a:p>
            <a:pPr indent="-28194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Secure access</a:t>
            </a:r>
            <a:endParaRPr/>
          </a:p>
          <a:p>
            <a:pPr indent="-28194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Accurate transactions</a:t>
            </a:r>
            <a:endParaRPr/>
          </a:p>
          <a:p>
            <a:pPr indent="-28194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 availability</a:t>
            </a:r>
            <a:endParaRPr/>
          </a:p>
          <a:p>
            <a:pPr indent="-28194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Regulatory compliance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b19d56bd8d_2_25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Components &amp; Architecture</a:t>
            </a:r>
            <a:endParaRPr/>
          </a:p>
        </p:txBody>
      </p:sp>
      <p:sp>
        <p:nvSpPr>
          <p:cNvPr id="302" name="Google Shape;302;g3b19d56bd8d_2_25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Components: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Customer (Web / Mobile App)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Banking Web Application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Authentication Service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Transaction Processing Service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Core Banking Database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External Services (SMS / Email / Payment Network)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b19d56bd8d_2_25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Assets &amp; Entry Points</a:t>
            </a:r>
            <a:endParaRPr/>
          </a:p>
        </p:txBody>
      </p:sp>
      <p:sp>
        <p:nvSpPr>
          <p:cNvPr id="308" name="Google Shape;308;g3b19d56bd8d_2_258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266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Assets:</a:t>
            </a:r>
            <a:endParaRPr/>
          </a:p>
          <a:p>
            <a:pPr indent="-266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Customer credentials</a:t>
            </a:r>
            <a:endParaRPr/>
          </a:p>
          <a:p>
            <a:pPr indent="-266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Account balances &amp; transactions</a:t>
            </a:r>
            <a:endParaRPr/>
          </a:p>
          <a:p>
            <a:pPr indent="-266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PII data</a:t>
            </a:r>
            <a:endParaRPr/>
          </a:p>
          <a:p>
            <a:pPr indent="-266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Transaction integrity</a:t>
            </a:r>
            <a:endParaRPr/>
          </a:p>
          <a:p>
            <a:pPr indent="-266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Application availability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Entry Points:</a:t>
            </a:r>
            <a:endParaRPr/>
          </a:p>
          <a:p>
            <a:pPr indent="-266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Login &amp; MFA screens</a:t>
            </a:r>
            <a:endParaRPr/>
          </a:p>
          <a:p>
            <a:pPr indent="-266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Fund transfer forms</a:t>
            </a:r>
            <a:endParaRPr/>
          </a:p>
          <a:p>
            <a:pPr indent="-266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API endpoints</a:t>
            </a:r>
            <a:endParaRPr/>
          </a:p>
          <a:p>
            <a:pPr indent="-2667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OTP / SMS callbacks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b19d56bd8d_2_26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Threats (STRIDE)</a:t>
            </a:r>
            <a:endParaRPr/>
          </a:p>
        </p:txBody>
      </p:sp>
      <p:sp>
        <p:nvSpPr>
          <p:cNvPr id="314" name="Google Shape;314;g3b19d56bd8d_2_26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Spoofing – Stolen credentials used to login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Tampering – Transfer amount modified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Repudiation – Customer denies transaction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Information Disclosure – Data leaked via API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Denial of Service – App unavailable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Elevation of Privilege – User gains admin access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b19d56bd8d_2_26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Solutions &amp; Exercise Output</a:t>
            </a:r>
            <a:endParaRPr/>
          </a:p>
        </p:txBody>
      </p:sp>
      <p:sp>
        <p:nvSpPr>
          <p:cNvPr id="320" name="Google Shape;320;g3b19d56bd8d_2_268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266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Mitigations:</a:t>
            </a:r>
            <a:endParaRPr/>
          </a:p>
          <a:p>
            <a:pPr indent="-266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MFA, CAPTCHA, device fingerprinting</a:t>
            </a:r>
            <a:endParaRPr/>
          </a:p>
          <a:p>
            <a:pPr indent="-266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TLS, transaction signing</a:t>
            </a:r>
            <a:endParaRPr/>
          </a:p>
          <a:p>
            <a:pPr indent="-266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Immutable audit logs</a:t>
            </a:r>
            <a:endParaRPr/>
          </a:p>
          <a:p>
            <a:pPr indent="-266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Encryption &amp; API authorization</a:t>
            </a:r>
            <a:endParaRPr/>
          </a:p>
          <a:p>
            <a:pPr indent="-266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Rate limiting, WAF, auto-scaling</a:t>
            </a:r>
            <a:endParaRPr/>
          </a:p>
          <a:p>
            <a:pPr indent="-266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RBAC &amp; least privilege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Exercise Output:</a:t>
            </a:r>
            <a:endParaRPr/>
          </a:p>
          <a:p>
            <a:pPr indent="-266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High-risk threats identified</a:t>
            </a:r>
            <a:endParaRPr/>
          </a:p>
          <a:p>
            <a:pPr indent="-266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Risks prioritised</a:t>
            </a:r>
            <a:endParaRPr/>
          </a:p>
          <a:p>
            <a:pPr indent="-2667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Threats mapped to controls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b19d56bd8d_0_135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Exercise: STRIDE</a:t>
            </a:r>
            <a:endParaRPr/>
          </a:p>
        </p:txBody>
      </p:sp>
      <p:sp>
        <p:nvSpPr>
          <p:cNvPr id="326" name="Google Shape;326;g3b19d56bd8d_0_135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/>
              <a:t>Exercise Goal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Login &amp; Authentication</a:t>
            </a:r>
            <a:br>
              <a:rPr lang="en-US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Threat_Modeling_Worksheet_Banking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b19d56bd8d_2_2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Challenge: STRIDE</a:t>
            </a:r>
            <a:endParaRPr/>
          </a:p>
        </p:txBody>
      </p:sp>
      <p:sp>
        <p:nvSpPr>
          <p:cNvPr id="332" name="Google Shape;332;g3b19d56bd8d_2_238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/>
              <a:t>Exercise Goal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Login &amp; Authentication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Group 1 → Fund Transfer &amp; APIs</a:t>
            </a:r>
            <a:br>
              <a:rPr lang="en-US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Group 2 → Database &amp; Data Storage</a:t>
            </a:r>
            <a:br>
              <a:rPr lang="en-US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Group 3 → External Services (OTP, Payment Network)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Threat_Modeling_Worksheet_Banking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b19d56bd8d_2_2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Exercise: STRIDE</a:t>
            </a:r>
            <a:endParaRPr/>
          </a:p>
        </p:txBody>
      </p:sp>
      <p:sp>
        <p:nvSpPr>
          <p:cNvPr id="338" name="Google Shape;338;g3b19d56bd8d_2_23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1200"/>
              </a:spcAft>
              <a:buNone/>
            </a:pPr>
            <a:r>
              <a:rPr b="1" lang="en-US"/>
              <a:t>Banking_Threat_Modeling_Full_Solution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b19d56bd8d_0_29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Application Security Testing</a:t>
            </a:r>
            <a:endParaRPr/>
          </a:p>
        </p:txBody>
      </p:sp>
      <p:sp>
        <p:nvSpPr>
          <p:cNvPr id="344" name="Google Shape;344;g3b19d56bd8d_0_29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vulnerabilities in applications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Different techniques at different stages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Automated and manual approaches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Core part of DevSecOps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Supports continuous security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b19d56bd8d_0_30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SAST?</a:t>
            </a:r>
            <a:endParaRPr/>
          </a:p>
        </p:txBody>
      </p:sp>
      <p:sp>
        <p:nvSpPr>
          <p:cNvPr id="350" name="Google Shape;350;g3b19d56bd8d_0_30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Static Application Security Testing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Analyzes source code or bytecode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running app required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Early detection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Developer-focused feedback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b19d56bd8d_0_30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SAST – Pros &amp; Cons</a:t>
            </a:r>
            <a:endParaRPr/>
          </a:p>
        </p:txBody>
      </p:sp>
      <p:sp>
        <p:nvSpPr>
          <p:cNvPr id="356" name="Google Shape;356;g3b19d56bd8d_0_30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Pros: Shift-left, fast feedback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Pros: Easy CI integration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Cons: False positives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Cons: Needs code access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Best used early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b19d56bd8d_0_3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DAST?</a:t>
            </a:r>
            <a:endParaRPr/>
          </a:p>
        </p:txBody>
      </p:sp>
      <p:sp>
        <p:nvSpPr>
          <p:cNvPr id="362" name="Google Shape;362;g3b19d56bd8d_0_31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Dynamic Application Security Testing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Tests running application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Black-box testing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Finds runtime issues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Complements SAST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b19d56bd8d_0_3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DAST – Pros &amp; Cons</a:t>
            </a:r>
            <a:endParaRPr/>
          </a:p>
        </p:txBody>
      </p:sp>
      <p:sp>
        <p:nvSpPr>
          <p:cNvPr id="368" name="Google Shape;368;g3b19d56bd8d_0_31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Pros: Real attack simulation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Pros: Language agnostic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Cons: Needs running app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Cons: Slower feedback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Best used post-deploy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b19d56bd8d_0_3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IAST?</a:t>
            </a:r>
            <a:endParaRPr/>
          </a:p>
        </p:txBody>
      </p:sp>
      <p:sp>
        <p:nvSpPr>
          <p:cNvPr id="374" name="Google Shape;374;g3b19d56bd8d_0_32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Interactive Application Security Testing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Runs inside application runtime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Combines SAST and DAST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Low false positives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Requires agent integration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b19d56bd8d_0_3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RASP?</a:t>
            </a:r>
            <a:endParaRPr/>
          </a:p>
        </p:txBody>
      </p:sp>
      <p:sp>
        <p:nvSpPr>
          <p:cNvPr id="380" name="Google Shape;380;g3b19d56bd8d_0_32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Runtime Application Self-Protection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Protects application at runtime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Blocks attacks in real time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Last line of defense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Used in production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Google Shape;385;g3b19d56bd8d_0_3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8300" y="0"/>
            <a:ext cx="7224983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b19d56bd8d_0_3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 Each Fits in Secure SDLC</a:t>
            </a:r>
            <a:endParaRPr/>
          </a:p>
        </p:txBody>
      </p:sp>
      <p:sp>
        <p:nvSpPr>
          <p:cNvPr id="391" name="Google Shape;391;g3b19d56bd8d_0_33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Design: Threat modeling (STRIDE)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Develop: SAST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Test: DAST, IAST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Deploy: Baseline scans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Operate: RASP &amp; monitoring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b19d56bd8d_0_3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Takeaways</a:t>
            </a:r>
            <a:endParaRPr/>
          </a:p>
        </p:txBody>
      </p:sp>
      <p:sp>
        <p:nvSpPr>
          <p:cNvPr id="397" name="Google Shape;397;g3b19d56bd8d_0_34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Threat modeling prevents design flaws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STRIDE is simple and effective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single testing tool is enough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Layered testing reduces risk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DevSecOps needs all approaches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b1dc41a628_0_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DevSecOps Tools Chain</a:t>
            </a:r>
            <a:endParaRPr/>
          </a:p>
        </p:txBody>
      </p:sp>
      <p:sp>
        <p:nvSpPr>
          <p:cNvPr id="403" name="Google Shape;403;g3b1dc41a628_0_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04" name="Google Shape;404;g3b1dc41a628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47575"/>
            <a:ext cx="9143999" cy="561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b19d56bd8d_0_137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Git</a:t>
            </a:r>
            <a:endParaRPr/>
          </a:p>
        </p:txBody>
      </p:sp>
      <p:sp>
        <p:nvSpPr>
          <p:cNvPr id="410" name="Google Shape;410;g3b19d56bd8d_0_1376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11" name="Google Shape;411;g3b19d56bd8d_0_13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" y="1693655"/>
            <a:ext cx="9144001" cy="5164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b19d56bd8d_0_68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OWASP?</a:t>
            </a:r>
            <a:endParaRPr/>
          </a:p>
        </p:txBody>
      </p:sp>
      <p:sp>
        <p:nvSpPr>
          <p:cNvPr id="417" name="Google Shape;417;g3b19d56bd8d_0_68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32766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Global non-profit focused on application security</a:t>
            </a:r>
            <a:endParaRPr/>
          </a:p>
          <a:p>
            <a:pPr indent="-32766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Provides open standards, tools, and guidance</a:t>
            </a:r>
            <a:endParaRPr/>
          </a:p>
          <a:p>
            <a:pPr indent="-32766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Community-driven and vendor-neutral</a:t>
            </a:r>
            <a:endParaRPr/>
          </a:p>
          <a:p>
            <a:pPr indent="-32766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OWASP Top 10 highlights critical app risks</a:t>
            </a:r>
            <a:endParaRPr/>
          </a:p>
          <a:p>
            <a:pPr indent="-32766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Based on real-world vulnerabilities and breaches</a:t>
            </a:r>
            <a:endParaRPr/>
          </a:p>
          <a:p>
            <a:pPr indent="-32766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Recognised by enterprises, auditors, and regulators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b19d56bd8d_0_69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OWASP Top 10 Matters</a:t>
            </a:r>
            <a:endParaRPr/>
          </a:p>
        </p:txBody>
      </p:sp>
      <p:sp>
        <p:nvSpPr>
          <p:cNvPr id="423" name="Google Shape;423;g3b19d56bd8d_0_69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Covers majority of common application security issues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Used as baseline security standard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Helps prioritise security investments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Creates shared language across teams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Maps directly to Secure SDLC and DevSecOps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Relevant for audits and compliance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8" name="Google Shape;428;g3b19d56bd8d_0_14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39" y="1084651"/>
            <a:ext cx="9144000" cy="44732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b19d56bd8d_0_138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Docker</a:t>
            </a:r>
            <a:endParaRPr/>
          </a:p>
        </p:txBody>
      </p:sp>
      <p:pic>
        <p:nvPicPr>
          <p:cNvPr id="434" name="Google Shape;434;g3b19d56bd8d_0_13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37360"/>
            <a:ext cx="9144000" cy="5120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b19d56bd8d_0_139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Juice Shop setup</a:t>
            </a:r>
            <a:endParaRPr/>
          </a:p>
        </p:txBody>
      </p:sp>
      <p:sp>
        <p:nvSpPr>
          <p:cNvPr id="440" name="Google Shape;440;g3b19d56bd8d_0_1398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Setup sample vulnerable application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docker run -d --name juice-shop -p 3000:3000 bkimminich/juice-shop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http://localhost:3000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b19d56bd8d_0_69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A01: Broken Access Control</a:t>
            </a:r>
            <a:endParaRPr/>
          </a:p>
        </p:txBody>
      </p:sp>
      <p:sp>
        <p:nvSpPr>
          <p:cNvPr id="446" name="Google Shape;446;g3b19d56bd8d_0_69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/>
          </a:bodyPr>
          <a:lstStyle/>
          <a:p>
            <a:pPr indent="-31242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What: Users access data or actions beyond permissions</a:t>
            </a:r>
            <a:endParaRPr/>
          </a:p>
          <a:p>
            <a:pPr indent="-31242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Why: Missing server-side checks, trusting client logic</a:t>
            </a:r>
            <a:endParaRPr/>
          </a:p>
          <a:p>
            <a:pPr indent="-31242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Impact: Data exposure, fraud, account takeover</a:t>
            </a:r>
            <a:endParaRPr/>
          </a:p>
          <a:p>
            <a:pPr indent="-31242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Banking: Viewing other accounts, unauthorised transfers</a:t>
            </a:r>
            <a:endParaRPr/>
          </a:p>
          <a:p>
            <a:pPr indent="-31242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Attack: IDOR, forced browsing, privilege escalation</a:t>
            </a:r>
            <a:endParaRPr/>
          </a:p>
          <a:p>
            <a:pPr indent="-31242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DevSecOps: Centralised authZ, automated access tests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b19d56bd8d_2_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A01: Broken Access Control</a:t>
            </a:r>
            <a:endParaRPr/>
          </a:p>
        </p:txBody>
      </p:sp>
      <p:sp>
        <p:nvSpPr>
          <p:cNvPr id="452" name="Google Shape;452;g3b19d56bd8d_2_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Exercise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A01_Broken_Access_Control_Multiple_Scenarios_JuiceShop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b19d56bd8d_0_70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A02: Cryptographic Failures</a:t>
            </a:r>
            <a:endParaRPr/>
          </a:p>
        </p:txBody>
      </p:sp>
      <p:sp>
        <p:nvSpPr>
          <p:cNvPr id="458" name="Google Shape;458;g3b19d56bd8d_0_70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2766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What: Sensitive data not properly encrypted</a:t>
            </a:r>
            <a:endParaRPr/>
          </a:p>
          <a:p>
            <a:pPr indent="-32766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Why: Weak algorithms, no TLS, poor key management</a:t>
            </a:r>
            <a:endParaRPr/>
          </a:p>
          <a:p>
            <a:pPr indent="-32766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Impact: PII leakage, data breaches</a:t>
            </a:r>
            <a:endParaRPr/>
          </a:p>
          <a:p>
            <a:pPr indent="-32766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Banking: Exposure of customer and transaction data</a:t>
            </a:r>
            <a:endParaRPr/>
          </a:p>
          <a:p>
            <a:pPr indent="-32766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Attack: Sniffing, weak cipher exploitation</a:t>
            </a:r>
            <a:endParaRPr/>
          </a:p>
          <a:p>
            <a:pPr indent="-32766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DevSecOps: TLS everywhere, secrets &amp; key management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b19d56bd8d_2_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A02: Cryptographic Failures</a:t>
            </a:r>
            <a:endParaRPr/>
          </a:p>
        </p:txBody>
      </p:sp>
      <p:sp>
        <p:nvSpPr>
          <p:cNvPr id="464" name="Google Shape;464;g3b19d56bd8d_2_6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exercise A02_Cryptographic_Failures_JuiceShop_Exercise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b19d56bd8d_0_70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A03: Injection</a:t>
            </a:r>
            <a:endParaRPr/>
          </a:p>
        </p:txBody>
      </p:sp>
      <p:sp>
        <p:nvSpPr>
          <p:cNvPr id="470" name="Google Shape;470;g3b19d56bd8d_0_70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32766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What: Untrusted input executed as code or queries</a:t>
            </a:r>
            <a:endParaRPr/>
          </a:p>
          <a:p>
            <a:pPr indent="-32766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Why: No input validation, dynamic query building</a:t>
            </a:r>
            <a:endParaRPr/>
          </a:p>
          <a:p>
            <a:pPr indent="-32766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Impact: Data theft, system compromise</a:t>
            </a:r>
            <a:endParaRPr/>
          </a:p>
          <a:p>
            <a:pPr indent="-32766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Banking: Transaction manipulation, data leakage</a:t>
            </a:r>
            <a:endParaRPr/>
          </a:p>
          <a:p>
            <a:pPr indent="-32766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Attack: SQL, NoSQL, command injection</a:t>
            </a:r>
            <a:endParaRPr/>
          </a:p>
          <a:p>
            <a:pPr indent="-32766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DevSecOps: Parameterised queries, SAST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b19d56bd8d_0_7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A04: Insecure Design</a:t>
            </a:r>
            <a:endParaRPr/>
          </a:p>
        </p:txBody>
      </p:sp>
      <p:sp>
        <p:nvSpPr>
          <p:cNvPr id="476" name="Google Shape;476;g3b19d56bd8d_0_71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What: Security flaws in application design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Why: No threat modelling, business logic gaps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Impact: Workflow abuse, fraud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Banking: Approval bypass, logic manipulation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Attack: Abuse of intended functionality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DevSecOps: Threat modelling, design reviews</a:t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b19d56bd8d_2_1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Challenge</a:t>
            </a:r>
            <a:endParaRPr/>
          </a:p>
        </p:txBody>
      </p:sp>
      <p:sp>
        <p:nvSpPr>
          <p:cNvPr id="482" name="Google Shape;482;g3b19d56bd8d_2_118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Missing Business Logic Controls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Scenario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The application allows users to add unlimited items to the shopping basket.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Challenge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Login as a normal user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Add the same product repeatedly to the basket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Try to exceed reasonable limits (e.g., 100+ items)</a:t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b19d56bd8d_2_1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Challenge</a:t>
            </a:r>
            <a:endParaRPr/>
          </a:p>
        </p:txBody>
      </p:sp>
      <p:sp>
        <p:nvSpPr>
          <p:cNvPr id="488" name="Google Shape;488;g3b19d56bd8d_2_12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Weak Password Policy by Design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Scenario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The application allows extremely weak passwords.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Challenge (Student Task)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Register a new user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Use a password like: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123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password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a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b19d56bd8d_0_7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A05: Security Misconfiguration</a:t>
            </a:r>
            <a:endParaRPr/>
          </a:p>
        </p:txBody>
      </p:sp>
      <p:sp>
        <p:nvSpPr>
          <p:cNvPr id="494" name="Google Shape;494;g3b19d56bd8d_0_71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What: Insecure or incorrect system settings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Why: Defaults, open ports, debug enabled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Impact: System compromise, data exposure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Banking: Exposed admin consoles, storage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Attack: Default creds, open services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DevSecOps: IaC, secure defaults, scanning</a:t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b19d56bd8d_0_7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A06: Vulnerable &amp; Outdated Components</a:t>
            </a:r>
            <a:endParaRPr/>
          </a:p>
        </p:txBody>
      </p:sp>
      <p:sp>
        <p:nvSpPr>
          <p:cNvPr id="500" name="Google Shape;500;g3b19d56bd8d_0_72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What: Libraries with known vulnerabilities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Why: No dependency visibility or scanning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Impact: Remote code execution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Banking: Third-party risk exposure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Attack: Public exploits against known CVEs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DevSecOps: SCA tools, automated updates</a:t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b19d56bd8d_0_7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A07: Identification &amp; Authentication Failures</a:t>
            </a:r>
            <a:endParaRPr/>
          </a:p>
        </p:txBody>
      </p:sp>
      <p:sp>
        <p:nvSpPr>
          <p:cNvPr id="506" name="Google Shape;506;g3b19d56bd8d_0_72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What: Weak authentication and sessions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Why: Weak passwords, poor session handling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Impact: Account takeover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Banking: Fraudulent transactions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Attack: Credential stuffing, session hijacking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DevSecOps: MFA, secure session management</a:t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b19d56bd8d_0_7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A08: Software &amp; Data Integrity Failures</a:t>
            </a:r>
            <a:endParaRPr/>
          </a:p>
        </p:txBody>
      </p:sp>
      <p:sp>
        <p:nvSpPr>
          <p:cNvPr id="512" name="Google Shape;512;g3b19d56bd8d_0_73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What: Code or data integrity not verified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Why: Unsigned artifacts, insecure pipelines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Impact: Supply chain attacks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Banking: Compromised deployments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Attack: Artifact or update tampering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DevSecOps: Signed artifacts, pipeline security</a:t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b19d56bd8d_0_7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A09: Logging &amp; Monitoring Failures</a:t>
            </a:r>
            <a:endParaRPr/>
          </a:p>
        </p:txBody>
      </p:sp>
      <p:sp>
        <p:nvSpPr>
          <p:cNvPr id="518" name="Google Shape;518;g3b19d56bd8d_0_73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What: Security events not logged or monitored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Why: Poor logging strategy, no alerts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Impact: Delayed breach detection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Banking: Compliance and audit failures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Attack: Long undetected abuse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DevSecOps: Central logging, SIEM integration</a:t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b19d56bd8d_0_7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A10: Server-Side Request Forgery (SSRF)</a:t>
            </a:r>
            <a:endParaRPr/>
          </a:p>
        </p:txBody>
      </p:sp>
      <p:sp>
        <p:nvSpPr>
          <p:cNvPr id="524" name="Google Shape;524;g3b19d56bd8d_0_74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What: Server makes unintended requests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Why: Unvalidated user-controlled URLs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Impact: Internal service compromise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Banking: Cloud metadata access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Attack: Internal scanning, credential theft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DevSecOps: URL allowlists, network segmentation</a:t>
            </a: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b19d56bd8d_0_8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Application-Level Security?</a:t>
            </a:r>
            <a:endParaRPr/>
          </a:p>
        </p:txBody>
      </p:sp>
      <p:sp>
        <p:nvSpPr>
          <p:cNvPr id="530" name="Google Shape;530;g3b19d56bd8d_0_82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Security implemented within application code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Protects business logic and data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Beyond infrastructure and network security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Primary responsibility of developers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Directly impacts users and customers</a:t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b19d56bd8d_0_8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Application Security Matters</a:t>
            </a:r>
            <a:endParaRPr/>
          </a:p>
        </p:txBody>
      </p:sp>
      <p:sp>
        <p:nvSpPr>
          <p:cNvPr id="536" name="Google Shape;536;g3b19d56bd8d_0_82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Most breaches exploit application flaws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APIs and web apps are primary attack surface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Business logic abuse causes fraud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Impacts customer trust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Critical in banking systems</a:t>
            </a: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b19d56bd8d_0_8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Common Application Security Risks</a:t>
            </a:r>
            <a:endParaRPr/>
          </a:p>
        </p:txBody>
      </p:sp>
      <p:sp>
        <p:nvSpPr>
          <p:cNvPr id="542" name="Google Shape;542;g3b19d56bd8d_0_83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Broken access control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Injection vulnerabilities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Authentication flaws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Insecure session management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Sensitive data exposure</a:t>
            </a:r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b19d56bd8d_0_8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Secure Coding Practices</a:t>
            </a:r>
            <a:endParaRPr/>
          </a:p>
        </p:txBody>
      </p:sp>
      <p:sp>
        <p:nvSpPr>
          <p:cNvPr id="548" name="Google Shape;548;g3b19d56bd8d_0_83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Validate all user input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Enforce authorization on server side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secure authentication mechanisms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Handle errors safely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Never trust client-side logic</a:t>
            </a:r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b19d56bd8d_0_8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Application Security &amp; OWASP</a:t>
            </a:r>
            <a:endParaRPr/>
          </a:p>
        </p:txBody>
      </p:sp>
      <p:sp>
        <p:nvSpPr>
          <p:cNvPr id="554" name="Google Shape;554;g3b19d56bd8d_0_84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OWASP Top 10 maps common risks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Guides secure coding decisions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Helps prioritise fixes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Forms baseline AppSec knowledge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Used widely in industry</a:t>
            </a:r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3b19d56bd8d_0_84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Application Security in Secure SDLC</a:t>
            </a:r>
            <a:endParaRPr/>
          </a:p>
        </p:txBody>
      </p:sp>
      <p:sp>
        <p:nvSpPr>
          <p:cNvPr id="560" name="Google Shape;560;g3b19d56bd8d_0_84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Security requirements early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Threat modeling during design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Secure coding in development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Automated testing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Continuous improvement</a:t>
            </a:r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b19d56bd8d_0_85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Takeaways</a:t>
            </a:r>
            <a:endParaRPr/>
          </a:p>
        </p:txBody>
      </p:sp>
      <p:sp>
        <p:nvSpPr>
          <p:cNvPr id="566" name="Google Shape;566;g3b19d56bd8d_0_85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Application security is foundational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Developers play a key role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Most issues are preventable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Early fixes are cheaper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DevSecOps enables secure delivery</a:t>
            </a:r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b19d56bd8d_2_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OWASP ZAP Baseline Scan (DevSecOps)</a:t>
            </a:r>
            <a:endParaRPr/>
          </a:p>
        </p:txBody>
      </p:sp>
      <p:sp>
        <p:nvSpPr>
          <p:cNvPr id="572" name="Google Shape;572;g3b19d56bd8d_2_2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ZAP Baseline Scan?</a:t>
            </a:r>
            <a:endParaRPr/>
          </a:p>
          <a:p>
            <a:pPr indent="-29718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OWASP ZAP is an open-source DAST tool</a:t>
            </a:r>
            <a:endParaRPr/>
          </a:p>
          <a:p>
            <a:pPr indent="-29718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Baseline Scan is passive and safe for CI/CD</a:t>
            </a:r>
            <a:endParaRPr/>
          </a:p>
          <a:p>
            <a:pPr indent="-29718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Detects common security issues without attacking the app</a:t>
            </a:r>
            <a:endParaRPr/>
          </a:p>
          <a:p>
            <a:pPr indent="-29718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Ideal for early security checks in DevSecOps pipelines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Use It?</a:t>
            </a:r>
            <a:endParaRPr/>
          </a:p>
          <a:p>
            <a:pPr indent="-29718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Fast, safe, and automation-friendly</a:t>
            </a:r>
            <a:endParaRPr/>
          </a:p>
          <a:p>
            <a:pPr indent="-29718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authentication required</a:t>
            </a:r>
            <a:endParaRPr/>
          </a:p>
          <a:p>
            <a:pPr indent="-29718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Works well in DEV/TEST environments</a:t>
            </a:r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b19d56bd8d_2_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ZAP Baseline Scan in CI/CD</a:t>
            </a:r>
            <a:endParaRPr/>
          </a:p>
        </p:txBody>
      </p:sp>
      <p:sp>
        <p:nvSpPr>
          <p:cNvPr id="578" name="Google Shape;578;g3b19d56bd8d_2_28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It Works</a:t>
            </a:r>
            <a:endParaRPr/>
          </a:p>
          <a:p>
            <a:pPr indent="-32766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Crawls the application URL</a:t>
            </a:r>
            <a:endParaRPr/>
          </a:p>
          <a:p>
            <a:pPr indent="-32766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Passively analyses HTTP traffic</a:t>
            </a:r>
            <a:endParaRPr/>
          </a:p>
          <a:p>
            <a:pPr indent="-32766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Generates HTML/JSON/XML reports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It Detects</a:t>
            </a:r>
            <a:endParaRPr/>
          </a:p>
          <a:p>
            <a:pPr indent="-32766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Missing security headers</a:t>
            </a:r>
            <a:endParaRPr/>
          </a:p>
          <a:p>
            <a:pPr indent="-32766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Cookie security issues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b19d56bd8d_2_1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ZAP Baseline Scan in CI/CD</a:t>
            </a:r>
            <a:endParaRPr/>
          </a:p>
        </p:txBody>
      </p:sp>
      <p:sp>
        <p:nvSpPr>
          <p:cNvPr id="584" name="Google Shape;584;g3b19d56bd8d_2_11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It Detects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Information disclosure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CORS &amp; HTTP method issues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Does NOT exploit vulnerabilities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ZAP Full Scan for deeper testing</a:t>
            </a:r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b19d56bd8d_2_10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ZAP</a:t>
            </a:r>
            <a:endParaRPr/>
          </a:p>
        </p:txBody>
      </p:sp>
      <p:sp>
        <p:nvSpPr>
          <p:cNvPr id="590" name="Google Shape;590;g3b19d56bd8d_2_108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Exercise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OWASP_ZAP_Baseline_Ubuntu_HandsOn </a:t>
            </a:r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b19d56bd8d_0_14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GitHub</a:t>
            </a:r>
            <a:endParaRPr/>
          </a:p>
        </p:txBody>
      </p:sp>
      <p:sp>
        <p:nvSpPr>
          <p:cNvPr id="596" name="Google Shape;596;g3b19d56bd8d_0_1416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1200"/>
              </a:spcAft>
              <a:buNone/>
            </a:pPr>
            <a:r>
              <a:rPr lang="en-US"/>
              <a:t>Create account </a:t>
            </a:r>
            <a:endParaRPr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3b19d56bd8d_0_1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Git Security Matters</a:t>
            </a:r>
            <a:endParaRPr/>
          </a:p>
        </p:txBody>
      </p:sp>
      <p:sp>
        <p:nvSpPr>
          <p:cNvPr id="602" name="Google Shape;602;g3b19d56bd8d_0_13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 history is permanent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Secrets committed once are exposed forever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Public repositories amplify risk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Insider mistakes are common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Breaches often start with leaked secrets</a:t>
            </a:r>
            <a:endParaRPr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b19d56bd8d_0_1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Are Secrets?</a:t>
            </a:r>
            <a:endParaRPr/>
          </a:p>
        </p:txBody>
      </p:sp>
      <p:sp>
        <p:nvSpPr>
          <p:cNvPr id="608" name="Google Shape;608;g3b19d56bd8d_0_13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Passwords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API keys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Tokens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Certificates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Database credentials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Cloud access keys</a:t>
            </a:r>
            <a:endParaRPr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3b19d56bd8d_0_1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Common Ways Secrets Leak</a:t>
            </a:r>
            <a:endParaRPr/>
          </a:p>
        </p:txBody>
      </p:sp>
      <p:sp>
        <p:nvSpPr>
          <p:cNvPr id="614" name="Google Shape;614;g3b19d56bd8d_0_14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Hardcoded in source code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Configuration files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Environment files committed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Debug logs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Copy-paste from local tests</a:t>
            </a:r>
            <a:endParaRPr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3b19d56bd8d_0_14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Real-World Impact of Secret Leaks</a:t>
            </a:r>
            <a:endParaRPr/>
          </a:p>
        </p:txBody>
      </p:sp>
      <p:sp>
        <p:nvSpPr>
          <p:cNvPr id="620" name="Google Shape;620;g3b19d56bd8d_0_14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Full system compromise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Cloud resource abuse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Financial loss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breaches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Regulatory violations</a:t>
            </a:r>
            <a:endParaRPr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b19d56bd8d_0_15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 Security in Secure SDLC</a:t>
            </a:r>
            <a:endParaRPr/>
          </a:p>
        </p:txBody>
      </p:sp>
      <p:sp>
        <p:nvSpPr>
          <p:cNvPr id="626" name="Google Shape;626;g3b19d56bd8d_0_15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Secrets never in code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environment variables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Centralised secret stores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Automated scanning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Fail fast in pipelines</a:t>
            </a:r>
            <a:endParaRPr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3b19d56bd8d_0_15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Gitleaks?</a:t>
            </a:r>
            <a:endParaRPr/>
          </a:p>
        </p:txBody>
      </p:sp>
      <p:sp>
        <p:nvSpPr>
          <p:cNvPr id="632" name="Google Shape;632;g3b19d56bd8d_0_15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Open-source secret scanning tool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Scans Git repos and history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Detects many secret patterns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Fast and developer-friendly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CI/CD ready</a:t>
            </a:r>
            <a:endParaRPr/>
          </a:p>
        </p:txBody>
      </p:sp>
      <p:pic>
        <p:nvPicPr>
          <p:cNvPr id="633" name="Google Shape;633;g3b19d56bd8d_0_1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6650" y="5048250"/>
            <a:ext cx="5467350" cy="180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3b19d56bd8d_0_16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Gitleaks Works</a:t>
            </a:r>
            <a:endParaRPr/>
          </a:p>
        </p:txBody>
      </p:sp>
      <p:sp>
        <p:nvSpPr>
          <p:cNvPr id="639" name="Google Shape;639;g3b19d56bd8d_0_16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Pattern-based detection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Entropy checks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Scans commits, branches, history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Pre-commit and CI modes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Configurable rules</a:t>
            </a:r>
            <a:endParaRPr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3b19d56bd8d_0_16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Gitleaks in Developer Workflow</a:t>
            </a:r>
            <a:endParaRPr/>
          </a:p>
        </p:txBody>
      </p:sp>
      <p:sp>
        <p:nvSpPr>
          <p:cNvPr id="645" name="Google Shape;645;g3b19d56bd8d_0_16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Pre-commit hooks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 scans before push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Fast feedback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Developer ownership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Reduced production risk</a:t>
            </a:r>
            <a:endParaRPr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3b19d56bd8d_0_17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Gitleaks in CI/CD Pipelines</a:t>
            </a:r>
            <a:endParaRPr/>
          </a:p>
        </p:txBody>
      </p:sp>
      <p:sp>
        <p:nvSpPr>
          <p:cNvPr id="651" name="Google Shape;651;g3b19d56bd8d_0_17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Automated secret scanning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Fail builds on detection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Prevent risky merges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Generate audit evidence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Support compliance</a:t>
            </a:r>
            <a:endParaRPr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b19d56bd8d_0_17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Hands-on Exercise (In Class)</a:t>
            </a:r>
            <a:endParaRPr/>
          </a:p>
        </p:txBody>
      </p:sp>
      <p:sp>
        <p:nvSpPr>
          <p:cNvPr id="657" name="Google Shape;657;g3b19d56bd8d_0_17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Clone sample vulnerable repo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Gitleaks scan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Identify leaked secrets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Remove secrets correctly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Re-run scan to verify</a:t>
            </a:r>
            <a:endParaRPr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3b19d56bd8d_0_18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Best Practices for Secret Management</a:t>
            </a:r>
            <a:endParaRPr/>
          </a:p>
        </p:txBody>
      </p:sp>
      <p:sp>
        <p:nvSpPr>
          <p:cNvPr id="663" name="Google Shape;663;g3b19d56bd8d_0_18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Never hardcode secrets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Rotate exposed credentials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vaults (Azure Key Vault, AWS Secrets Manager)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Restrict access using least privilege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Monitor and audit secret usage</a:t>
            </a:r>
            <a:endParaRPr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b19d56bd8d_0_18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Takeaways</a:t>
            </a:r>
            <a:endParaRPr/>
          </a:p>
        </p:txBody>
      </p:sp>
      <p:sp>
        <p:nvSpPr>
          <p:cNvPr id="669" name="Google Shape;669;g3b19d56bd8d_0_18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 security is foundational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Humans make mistakes – automation helps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Gitleaks prevents accidental leaks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Secret management is DevSecOps responsibility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Early detection reduces blast radius</a:t>
            </a:r>
            <a:endParaRPr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3b19d56bd8d_2_1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Secrets Exposure: The DevSecOps Problem</a:t>
            </a:r>
            <a:endParaRPr/>
          </a:p>
        </p:txBody>
      </p:sp>
      <p:sp>
        <p:nvSpPr>
          <p:cNvPr id="675" name="Google Shape;675;g3b19d56bd8d_2_129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2766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Developers accidentally commit secrets (API keys, tokens, passwords)</a:t>
            </a:r>
            <a:endParaRPr/>
          </a:p>
          <a:p>
            <a:pPr indent="-32766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Secrets spread via Git history, forks, and PRs</a:t>
            </a:r>
            <a:endParaRPr/>
          </a:p>
          <a:p>
            <a:pPr indent="-32766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Leads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breaches, cloud compromise, and compliance issues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Message:</a:t>
            </a:r>
            <a:endParaRPr/>
          </a:p>
          <a:p>
            <a:pPr indent="-32766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Secrets leakage is one of the most common DevSecOps failures.</a:t>
            </a:r>
            <a:endParaRPr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3b19d56bd8d_2_1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GitGuardian &amp; ggshield Overview</a:t>
            </a:r>
            <a:endParaRPr/>
          </a:p>
        </p:txBody>
      </p:sp>
      <p:sp>
        <p:nvSpPr>
          <p:cNvPr id="681" name="Google Shape;681;g3b19d56bd8d_2_134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9718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GitGuardian:</a:t>
            </a:r>
            <a:endParaRPr/>
          </a:p>
          <a:p>
            <a:pPr indent="-29718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Enterprise secrets detection &amp; prevention platform</a:t>
            </a:r>
            <a:endParaRPr/>
          </a:p>
          <a:p>
            <a:pPr indent="-29718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Detects 350+ types of secrets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718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ggshield:</a:t>
            </a:r>
            <a:endParaRPr/>
          </a:p>
          <a:p>
            <a:pPr indent="-29718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Official GitGuardian CLI tool</a:t>
            </a:r>
            <a:endParaRPr/>
          </a:p>
          <a:p>
            <a:pPr indent="-29718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Used on developer machines and CI/CD pipelines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718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One-liner:</a:t>
            </a:r>
            <a:endParaRPr/>
          </a:p>
          <a:p>
            <a:pPr indent="-29718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GitGuardian is the platform. ggshield is its CLI.</a:t>
            </a:r>
            <a:endParaRPr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3b19d56bd8d_2_1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 ggshield Fits in DevSecOps</a:t>
            </a:r>
            <a:endParaRPr/>
          </a:p>
        </p:txBody>
      </p:sp>
      <p:sp>
        <p:nvSpPr>
          <p:cNvPr id="687" name="Google Shape;687;g3b19d56bd8d_2_139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28194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Developer Laptop:</a:t>
            </a:r>
            <a:endParaRPr/>
          </a:p>
          <a:p>
            <a:pPr indent="-28194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Pre-commit secret detection (shift-left)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194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CI/CD Pipeline:</a:t>
            </a:r>
            <a:endParaRPr/>
          </a:p>
          <a:p>
            <a:pPr indent="-28194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Scan repos during build, fail on leaks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194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Repository Monitoring:</a:t>
            </a:r>
            <a:endParaRPr/>
          </a:p>
          <a:p>
            <a:pPr indent="-28194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Continuous scanning &amp; alerts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194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Approach:</a:t>
            </a:r>
            <a:endParaRPr/>
          </a:p>
          <a:p>
            <a:pPr indent="-28194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Prevention → Detection → Alerting → Remediation</a:t>
            </a:r>
            <a:endParaRPr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3b19d56bd8d_2_14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GitGuardian vs Gitleaks</a:t>
            </a:r>
            <a:endParaRPr/>
          </a:p>
        </p:txBody>
      </p:sp>
      <p:sp>
        <p:nvSpPr>
          <p:cNvPr id="693" name="Google Shape;693;g3b19d56bd8d_2_144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9718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ggshield (GitGuardian):</a:t>
            </a:r>
            <a:endParaRPr/>
          </a:p>
          <a:p>
            <a:pPr indent="-29718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SaaS-backed, dashboards, alerts</a:t>
            </a:r>
            <a:endParaRPr/>
          </a:p>
          <a:p>
            <a:pPr indent="-29718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Incident workflows &amp; governance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718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Gitleaks:</a:t>
            </a:r>
            <a:endParaRPr/>
          </a:p>
          <a:p>
            <a:pPr indent="-29718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Open-source, offline scanning</a:t>
            </a:r>
            <a:endParaRPr/>
          </a:p>
          <a:p>
            <a:pPr indent="-29718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Ideal for lightweight pipelines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718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Takeaway:</a:t>
            </a:r>
            <a:endParaRPr/>
          </a:p>
          <a:p>
            <a:pPr indent="-29718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They complement each other, not replace.</a:t>
            </a:r>
            <a:endParaRPr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g3b19d56bd8d_2_45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g3b19d56bd8d_2_459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1200"/>
              </a:spcAft>
              <a:buNone/>
            </a:pPr>
            <a:r>
              <a:rPr lang="en-US"/>
              <a:t>Pre read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https://github.com/arjunachari12/devsecops-training/blob/main/DevSecOps_PreRead_Day2-4.md</a:t>
            </a: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3b19d56bd8d_2_2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latin typeface="Calibri"/>
                <a:ea typeface="Calibri"/>
                <a:cs typeface="Calibri"/>
                <a:sym typeface="Calibri"/>
              </a:rPr>
              <a:t>GitGuardian </a:t>
            </a:r>
            <a:endParaRPr/>
          </a:p>
        </p:txBody>
      </p:sp>
      <p:sp>
        <p:nvSpPr>
          <p:cNvPr id="705" name="Google Shape;705;g3b19d56bd8d_2_224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Exercise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GitGuardian_ggshield_HandsOn_Guide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